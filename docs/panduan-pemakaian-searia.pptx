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058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CCFBF1"/>
                </a:solidFill>
                <a:latin typeface="Calibri"/>
              </a:rPr>
              <a:t>SISTEM INFORMASI KEJUARAAN RENANG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51560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Panduan pemakaian SeaRIA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20440"/>
            <a:ext cx="1005840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0">
                <a:solidFill>
                  <a:srgbClr val="CCFBF1"/>
                </a:solidFill>
                <a:latin typeface="Calibri"/>
              </a:rPr>
              <a:t>Untuk panitia dan peserta.
Dari persiapan kejuaraan sampai hasil dipublikasikan.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058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Tanpa pembayaran  ·  Peserta daftar tanpa akun  ·  Yang login: panitia, super admin, dan juri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0515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CCFBF1"/>
                </a:solidFill>
                <a:latin typeface="Calibri"/>
              </a:rPr>
              <a:t>ISI PRESENTASI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Apa yang akan dibahas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577840" cy="21031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109728" cy="210312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481328"/>
            <a:ext cx="5212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0F766E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719072"/>
            <a:ext cx="51663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Gambaran sistem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084832"/>
            <a:ext cx="516636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Peran, alur besar, dan status kejuaraan yang harus berurutan.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71600"/>
            <a:ext cx="5577840" cy="21031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63640" y="1371600"/>
            <a:ext cx="109728" cy="210312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9672" y="1481328"/>
            <a:ext cx="5212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0F766E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1719072"/>
            <a:ext cx="51663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Panduan panitia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9672" y="2084832"/>
            <a:ext cx="516636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Siapkan acara, terima peserta, bagi seri, hari lomba, publikasi.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03320"/>
            <a:ext cx="5577840" cy="21031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" y="3703320"/>
            <a:ext cx="109728" cy="210312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3813048"/>
            <a:ext cx="5212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0F766E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4050792"/>
            <a:ext cx="51663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Panduan peserta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4416552"/>
            <a:ext cx="516636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Daftar tanpa akun, isi catatan waktu, simpan kode REG-…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703320"/>
            <a:ext cx="5577840" cy="21031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63640" y="3703320"/>
            <a:ext cx="109728" cy="210312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9672" y="3813048"/>
            <a:ext cx="5212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0F766E"/>
                </a:solidFill>
                <a:latin typeface="Calibr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4050792"/>
            <a:ext cx="51663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Hari lomba &amp; juri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9672" y="4416552"/>
            <a:ext cx="516636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Siapa mengisi waktu, apa yang panitia cek sebelum hasil terbit.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3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6601968"/>
            <a:ext cx="8229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SeaRIA  ·  Panduan pemakaian sistem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6601968"/>
            <a:ext cx="210312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0515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CCFBF1"/>
                </a:solidFill>
                <a:latin typeface="Calibri"/>
              </a:rPr>
              <a:t>PENGENALAN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Apa itu SeaRIA?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2471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0">
                <a:solidFill>
                  <a:srgbClr val="475569"/>
                </a:solidFill>
                <a:latin typeface="Calibri"/>
              </a:rPr>
              <a:t>Satu tempat untuk pendaftaran, pembagian seri, buku acara, dan hasil resmi kejuaraan renang.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057400"/>
            <a:ext cx="5577840" cy="18288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2057400"/>
            <a:ext cx="109728" cy="182880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221992"/>
            <a:ext cx="51663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Tanpa bayar di sistem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587752"/>
            <a:ext cx="516636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Pendaftaran cukup data atlet dan nomor lomba. Tidak ada tagihan di aplikasi.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057400"/>
            <a:ext cx="5577840" cy="18288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63640" y="2057400"/>
            <a:ext cx="109728" cy="182880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9672" y="2221992"/>
            <a:ext cx="51663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Peserta tanpa akun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2587752"/>
            <a:ext cx="516636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Orang tua / pelatih / atlet mengisi form publik. Tidak perlu daftar akun.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069080"/>
            <a:ext cx="5577840" cy="18288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" y="4069080"/>
            <a:ext cx="109728" cy="182880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4233672"/>
            <a:ext cx="51663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Panitia yang mengendalikan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4599432"/>
            <a:ext cx="516636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Panitia menyiapkan acara, memeriksa data, membagi seri, lalu menerbitkan hasil.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4069080"/>
            <a:ext cx="5577840" cy="18288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63640" y="4069080"/>
            <a:ext cx="109728" cy="182880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9672" y="4233672"/>
            <a:ext cx="51663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Urutan wajib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9672" y="4599432"/>
            <a:ext cx="516636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Status kejuaraan maju selangkah demi selangkah. Tidak boleh loncat.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3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601968"/>
            <a:ext cx="8229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SeaRIA  ·  Panduan pemakaian sistem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6601968"/>
            <a:ext cx="210312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0515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CCFBF1"/>
                </a:solidFill>
                <a:latin typeface="Calibri"/>
              </a:rPr>
              <a:t>PERAN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Siapa mengerjakan apa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10515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128016" cy="10515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90472"/>
            <a:ext cx="21945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>
                <a:solidFill>
                  <a:srgbClr val="0F766E"/>
                </a:solidFill>
                <a:latin typeface="Calibri"/>
              </a:rPr>
              <a:t>Panitia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1527048"/>
            <a:ext cx="8138160" cy="685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0">
                <a:solidFill>
                  <a:srgbClr val="475569"/>
                </a:solidFill>
                <a:latin typeface="Calibri"/>
              </a:rPr>
              <a:t>Siapkan kejuaraan, buka/tutup pendaftaran, verifikasi, bagi seri, buku acara, cek hasil, publikasi.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514600"/>
            <a:ext cx="11247120" cy="10515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514600"/>
            <a:ext cx="128016" cy="10515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679192"/>
            <a:ext cx="21945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>
                <a:solidFill>
                  <a:srgbClr val="0F766E"/>
                </a:solidFill>
                <a:latin typeface="Calibri"/>
              </a:rPr>
              <a:t>Peserta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715768"/>
            <a:ext cx="8138160" cy="685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0">
                <a:solidFill>
                  <a:srgbClr val="475569"/>
                </a:solidFill>
                <a:latin typeface="Calibri"/>
              </a:rPr>
              <a:t>Daftar tanpa akun di Beranda atau /daftar. Simpan kode REG-…. Koreksi hanya lewat panitia.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703320"/>
            <a:ext cx="11247120" cy="10515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703320"/>
            <a:ext cx="128016" cy="10515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867912"/>
            <a:ext cx="21945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>
                <a:solidFill>
                  <a:srgbClr val="0F766E"/>
                </a:solidFill>
                <a:latin typeface="Calibri"/>
              </a:rPr>
              <a:t>Juri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904488"/>
            <a:ext cx="8138160" cy="685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0">
                <a:solidFill>
                  <a:srgbClr val="475569"/>
                </a:solidFill>
                <a:latin typeface="Calibri"/>
              </a:rPr>
              <a:t>Isi waktu di hari lomba sesuai tugas. Kunci seri setelah lengkap.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892040"/>
            <a:ext cx="11247120" cy="10515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892040"/>
            <a:ext cx="128016" cy="10515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056632"/>
            <a:ext cx="21945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>
                <a:solidFill>
                  <a:srgbClr val="0F766E"/>
                </a:solidFill>
                <a:latin typeface="Calibri"/>
              </a:rPr>
              <a:t>Super Admin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5093208"/>
            <a:ext cx="8138160" cy="685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0">
                <a:solidFill>
                  <a:srgbClr val="475569"/>
                </a:solidFill>
                <a:latin typeface="Calibri"/>
              </a:rPr>
              <a:t>Sama seperti panitia, plus boleh mundurkan status kejuaraan (wajib isi alasan).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3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601968"/>
            <a:ext cx="8229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SeaRIA  ·  Panduan pemakaian sistem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601968"/>
            <a:ext cx="210312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0515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CCFBF1"/>
                </a:solidFill>
                <a:latin typeface="Calibri"/>
              </a:rPr>
              <a:t>ALUR BESAR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10 langkah kejuaraan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417320"/>
            <a:ext cx="2194560" cy="20574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19202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800" b="1">
                <a:solidFill>
                  <a:srgbClr val="0F766E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2240280"/>
            <a:ext cx="1975104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>
                <a:solidFill>
                  <a:srgbClr val="0F172A"/>
                </a:solidFill>
                <a:latin typeface="Calibri"/>
              </a:rPr>
              <a:t>Siapkan data, kelompok umur, nomor, matriks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1417320"/>
            <a:ext cx="2194560" cy="20574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34640" y="1645920"/>
            <a:ext cx="19202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800" b="1">
                <a:solidFill>
                  <a:srgbClr val="0F766E"/>
                </a:solidFill>
                <a:latin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07208" y="2240280"/>
            <a:ext cx="1975104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>
                <a:solidFill>
                  <a:srgbClr val="0F172A"/>
                </a:solidFill>
                <a:latin typeface="Calibri"/>
              </a:rPr>
              <a:t>Buka pendaftaran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0" y="1417320"/>
            <a:ext cx="2194560" cy="20574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66360" y="1645920"/>
            <a:ext cx="19202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800" b="1">
                <a:solidFill>
                  <a:srgbClr val="0F766E"/>
                </a:solidFill>
                <a:latin typeface="Calibr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38928" y="2240280"/>
            <a:ext cx="1975104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>
                <a:solidFill>
                  <a:srgbClr val="0F172A"/>
                </a:solidFill>
                <a:latin typeface="Calibri"/>
              </a:rPr>
              <a:t>Peserta daftar / panitia unggah Excel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60920" y="1417320"/>
            <a:ext cx="2194560" cy="20574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0" y="1645920"/>
            <a:ext cx="19202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800" b="1">
                <a:solidFill>
                  <a:srgbClr val="0F766E"/>
                </a:solidFill>
                <a:latin typeface="Calibri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70648" y="2240280"/>
            <a:ext cx="1975104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>
                <a:solidFill>
                  <a:srgbClr val="0F172A"/>
                </a:solidFill>
                <a:latin typeface="Calibri"/>
              </a:rPr>
              <a:t>Panitia setujui entri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92640" y="1417320"/>
            <a:ext cx="2194560" cy="20574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29800" y="1645920"/>
            <a:ext cx="19202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800" b="1">
                <a:solidFill>
                  <a:srgbClr val="0F766E"/>
                </a:solidFill>
                <a:latin typeface="Calibri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02368" y="2240280"/>
            <a:ext cx="1975104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>
                <a:solidFill>
                  <a:srgbClr val="0F172A"/>
                </a:solidFill>
                <a:latin typeface="Calibri"/>
              </a:rPr>
              <a:t>Tutup pendaftaran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749040"/>
            <a:ext cx="2194560" cy="20574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977640"/>
            <a:ext cx="19202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800" b="1">
                <a:solidFill>
                  <a:srgbClr val="0F766E"/>
                </a:solidFill>
                <a:latin typeface="Calibri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" y="4572000"/>
            <a:ext cx="1975104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>
                <a:solidFill>
                  <a:srgbClr val="0F172A"/>
                </a:solidFill>
                <a:latin typeface="Calibri"/>
              </a:rPr>
              <a:t>Bagi seri dan lintasan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97480" y="3749040"/>
            <a:ext cx="2194560" cy="20574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34640" y="3977640"/>
            <a:ext cx="19202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800" b="1">
                <a:solidFill>
                  <a:srgbClr val="0F766E"/>
                </a:solidFill>
                <a:latin typeface="Calibri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07208" y="4572000"/>
            <a:ext cx="1975104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>
                <a:solidFill>
                  <a:srgbClr val="0F172A"/>
                </a:solidFill>
                <a:latin typeface="Calibri"/>
              </a:rPr>
              <a:t>Cetak buku acara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0" y="3749040"/>
            <a:ext cx="2194560" cy="20574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66360" y="3977640"/>
            <a:ext cx="19202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800" b="1">
                <a:solidFill>
                  <a:srgbClr val="0F766E"/>
                </a:solidFill>
                <a:latin typeface="Calibri"/>
              </a:rPr>
              <a:t>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38928" y="4572000"/>
            <a:ext cx="1975104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>
                <a:solidFill>
                  <a:srgbClr val="0F172A"/>
                </a:solidFill>
                <a:latin typeface="Calibri"/>
              </a:rPr>
              <a:t>Hari lomba: isi hasil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60920" y="3749040"/>
            <a:ext cx="2194560" cy="20574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0" y="3977640"/>
            <a:ext cx="19202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800" b="1">
                <a:solidFill>
                  <a:srgbClr val="0F766E"/>
                </a:solidFill>
                <a:latin typeface="Calibri"/>
              </a:rPr>
              <a:t>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0648" y="4572000"/>
            <a:ext cx="1975104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>
                <a:solidFill>
                  <a:srgbClr val="0F172A"/>
                </a:solidFill>
                <a:latin typeface="Calibri"/>
              </a:rPr>
              <a:t>Panitia cek hasil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92640" y="3749040"/>
            <a:ext cx="2194560" cy="20574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9800" y="3977640"/>
            <a:ext cx="19202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800" b="1">
                <a:solidFill>
                  <a:srgbClr val="0F766E"/>
                </a:solidFill>
                <a:latin typeface="Calibri"/>
              </a:rPr>
              <a:t>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02368" y="4572000"/>
            <a:ext cx="1975104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>
                <a:solidFill>
                  <a:srgbClr val="0F172A"/>
                </a:solidFill>
                <a:latin typeface="Calibri"/>
              </a:rPr>
              <a:t>Publikasi ke publik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3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6601968"/>
            <a:ext cx="8229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SeaRIA  ·  Panduan pemakaian sistem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0" y="6601968"/>
            <a:ext cx="210312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0515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CCFBF1"/>
                </a:solidFill>
                <a:latin typeface="Calibri"/>
              </a:rPr>
              <a:t>STATUS KEJUARAAN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Harus maju berurutan — tidak boleh loncat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7863840" cy="530352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5486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>
                <a:solidFill>
                  <a:srgbClr val="0F766E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325880"/>
            <a:ext cx="685800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1">
                <a:solidFill>
                  <a:srgbClr val="0F172A"/>
                </a:solidFill>
                <a:latin typeface="Calibri"/>
              </a:rPr>
              <a:t>Draf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325880"/>
            <a:ext cx="45720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0F766E"/>
                </a:solidFill>
                <a:latin typeface="Calibri"/>
              </a:rPr>
              <a:t>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947672"/>
            <a:ext cx="7863840" cy="530352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947672"/>
            <a:ext cx="5486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>
                <a:solidFill>
                  <a:srgbClr val="0F766E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947672"/>
            <a:ext cx="685800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1">
                <a:solidFill>
                  <a:srgbClr val="0F172A"/>
                </a:solidFill>
                <a:latin typeface="Calibri"/>
              </a:rPr>
              <a:t>Pendaftaran terbuka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1947672"/>
            <a:ext cx="45720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0F766E"/>
                </a:solidFill>
                <a:latin typeface="Calibri"/>
              </a:rPr>
              <a:t>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569464"/>
            <a:ext cx="7863840" cy="530352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569464"/>
            <a:ext cx="5486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>
                <a:solidFill>
                  <a:srgbClr val="0F766E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569464"/>
            <a:ext cx="685800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1">
                <a:solidFill>
                  <a:srgbClr val="0F172A"/>
                </a:solidFill>
                <a:latin typeface="Calibri"/>
              </a:rPr>
              <a:t>Pendaftaran ditutup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569464"/>
            <a:ext cx="45720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0F766E"/>
                </a:solidFill>
                <a:latin typeface="Calibri"/>
              </a:rPr>
              <a:t>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191256"/>
            <a:ext cx="7863840" cy="530352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191256"/>
            <a:ext cx="5486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>
                <a:solidFill>
                  <a:srgbClr val="0F766E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91256"/>
            <a:ext cx="685800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1">
                <a:solidFill>
                  <a:srgbClr val="0F172A"/>
                </a:solidFill>
                <a:latin typeface="Calibri"/>
              </a:rPr>
              <a:t>Sudah diseeding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191256"/>
            <a:ext cx="45720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0F766E"/>
                </a:solidFill>
                <a:latin typeface="Calibri"/>
              </a:rPr>
              <a:t>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813048"/>
            <a:ext cx="7863840" cy="530352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813048"/>
            <a:ext cx="5486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>
                <a:solidFill>
                  <a:srgbClr val="0F766E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3813048"/>
            <a:ext cx="685800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1">
                <a:solidFill>
                  <a:srgbClr val="0F172A"/>
                </a:solidFill>
                <a:latin typeface="Calibri"/>
              </a:rPr>
              <a:t>Hari lomba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3813048"/>
            <a:ext cx="45720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0F766E"/>
                </a:solidFill>
                <a:latin typeface="Calibri"/>
              </a:rPr>
              <a:t>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434840"/>
            <a:ext cx="7863840" cy="530352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434840"/>
            <a:ext cx="5486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>
                <a:solidFill>
                  <a:srgbClr val="0F766E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4434840"/>
            <a:ext cx="685800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1">
                <a:solidFill>
                  <a:srgbClr val="0F172A"/>
                </a:solidFill>
                <a:latin typeface="Calibri"/>
              </a:rPr>
              <a:t>Selesai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434840"/>
            <a:ext cx="45720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0F766E"/>
                </a:solidFill>
                <a:latin typeface="Calibri"/>
              </a:rPr>
              <a:t>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056632"/>
            <a:ext cx="7863840" cy="530352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056632"/>
            <a:ext cx="5486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>
                <a:solidFill>
                  <a:srgbClr val="0F766E"/>
                </a:solidFill>
                <a:latin typeface="Calibri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5056632"/>
            <a:ext cx="685800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1">
                <a:solidFill>
                  <a:srgbClr val="0F172A"/>
                </a:solidFill>
                <a:latin typeface="Calibri"/>
              </a:rPr>
              <a:t>Dipublikasikan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869680" y="1325880"/>
            <a:ext cx="2834640" cy="4297680"/>
          </a:xfrm>
          <a:prstGeom prst="round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98280" y="1554480"/>
            <a:ext cx="24231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92400E"/>
                </a:solidFill>
                <a:latin typeface="Calibri"/>
              </a:rPr>
              <a:t>Ingat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80" y="2011680"/>
            <a:ext cx="2423160" cy="3291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92400E"/>
                </a:solidFill>
                <a:latin typeface="Calibri"/>
              </a:rPr>
              <a:t>Mundur status hanya Super Admin, dan wajib mengisi alasan.
Form publik tidak muncul selama masih Draf.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3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6601968"/>
            <a:ext cx="8229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SeaRIA  ·  Panduan pemakaian sistem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0" y="6601968"/>
            <a:ext cx="210312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CCFBF1"/>
                </a:solidFill>
                <a:latin typeface="Calibri"/>
              </a:rPr>
              <a:t>BAGIAN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1051560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Panduan panitia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05840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0">
                <a:solidFill>
                  <a:srgbClr val="CCFBF1"/>
                </a:solidFill>
                <a:latin typeface="Calibri"/>
              </a:rPr>
              <a:t>Siapkan dulu, baru peserta bisa daftar. Panitia mengendalikan seluruh alur sampai hasil terbit.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0515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CCFBF1"/>
                </a:solidFill>
                <a:latin typeface="Calibri"/>
              </a:rPr>
              <a:t>PANITIA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Menu di sidebar kiri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71600"/>
            <a:ext cx="3657600" cy="21031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11480" y="1371600"/>
            <a:ext cx="109728" cy="210312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536192"/>
            <a:ext cx="3246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Dasbor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901952"/>
            <a:ext cx="324612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Pilih atau buat acara. Ubah status. Pengaturan kelompok umur, nomor, matriks, kesiapan, juri.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371600"/>
            <a:ext cx="3657600" cy="21031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51960" y="1371600"/>
            <a:ext cx="109728" cy="210312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1536192"/>
            <a:ext cx="3246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Pendaftaran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1901952"/>
            <a:ext cx="324612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Import Excel, tambah manual, setujui atau tolak entri.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371600"/>
            <a:ext cx="3657600" cy="21031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92440" y="1371600"/>
            <a:ext cx="109728" cy="210312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48472" y="1536192"/>
            <a:ext cx="3246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Pembagian seri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48472" y="1901952"/>
            <a:ext cx="324612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Susun seri dan lintasan dari catatan waktu. Cek, kunci.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703320"/>
            <a:ext cx="3657600" cy="21031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11480" y="3703320"/>
            <a:ext cx="109728" cy="210312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" y="3867912"/>
            <a:ext cx="3246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Buku acara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4233672"/>
            <a:ext cx="324612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Lihat start list, unduh PDF, unduh lembar hasil kosong.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1960" y="3703320"/>
            <a:ext cx="3657600" cy="21031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251960" y="3703320"/>
            <a:ext cx="109728" cy="210312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07992" y="3867912"/>
            <a:ext cx="3246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Hasil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07992" y="4233672"/>
            <a:ext cx="324612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Isi/koreksi waktu, verifikasi, medali, export.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92440" y="3703320"/>
            <a:ext cx="3657600" cy="21031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092440" y="3703320"/>
            <a:ext cx="109728" cy="210312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48472" y="3867912"/>
            <a:ext cx="3246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Klub / Atlet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48472" y="4233672"/>
            <a:ext cx="324612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Data master. Verifikasi klub baru yang diketik peserta.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3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6601968"/>
            <a:ext cx="8229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SeaRIA  ·  Panduan pemakaian sistem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6601968"/>
            <a:ext cx="210312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0515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CCFBF1"/>
                </a:solidFill>
                <a:latin typeface="Calibri"/>
              </a:rPr>
              <a:t>PANITIA · SEBELUM DAFTAR DIBUKA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Siapkan kejuaraan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25880"/>
            <a:ext cx="3657600" cy="21945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11480" y="1325880"/>
            <a:ext cx="109728" cy="219456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490472"/>
            <a:ext cx="3246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1. Klub &amp; atlet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856232"/>
            <a:ext cx="3246120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Opsional. Tambah klub yang sudah dikenal. Verifikasi klub yang masih menunggu.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325880"/>
            <a:ext cx="3657600" cy="21945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51960" y="1325880"/>
            <a:ext cx="109728" cy="219456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1490472"/>
            <a:ext cx="3246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2. Buat acara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1856232"/>
            <a:ext cx="3246120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Dasbor → Tambah acara. Nama, tempat, tanggal, 6/8 lintasan, batas nomor per atlet.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325880"/>
            <a:ext cx="3657600" cy="21945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92440" y="1325880"/>
            <a:ext cx="109728" cy="219456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48472" y="1490472"/>
            <a:ext cx="3246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3. Kelompok umur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48472" y="1856232"/>
            <a:ext cx="3246120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Berdasarkan tahun lahir, bukan umur kalender. Rentang tidak boleh tumpang tindih.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703320"/>
            <a:ext cx="3657600" cy="21945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11480" y="3703320"/>
            <a:ext cx="109728" cy="219456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" y="3867912"/>
            <a:ext cx="3246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4. Nomor lomba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4233672"/>
            <a:ext cx="3246120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Bisa isi susunan baku 34 nomor PA/PI. Contoh: 13 = 50 m gaya dada putra.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1960" y="3703320"/>
            <a:ext cx="3657600" cy="21945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251960" y="3703320"/>
            <a:ext cx="109728" cy="219456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07992" y="3867912"/>
            <a:ext cx="3246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5. Matriks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07992" y="4233672"/>
            <a:ext cx="3246120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Centang grup mana boleh ikut nomor mana. Form daftar hanya menampilkan yang diizinkan.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92440" y="3703320"/>
            <a:ext cx="3657600" cy="21945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092440" y="3703320"/>
            <a:ext cx="109728" cy="219456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48472" y="3867912"/>
            <a:ext cx="3246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6. Kesiapan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48472" y="4233672"/>
            <a:ext cx="3246120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Cek yang masih kurang, lalu lanjut status ke Pendaftaran terbuka.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3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6601968"/>
            <a:ext cx="8229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SeaRIA  ·  Panduan pemakaian sistem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6601968"/>
            <a:ext cx="210312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0515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CCFBF1"/>
                </a:solidFill>
                <a:latin typeface="Calibri"/>
              </a:rPr>
              <a:t>PANITIA · PENDAFTARAN TERBUKA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Tiga cara data peserta masuk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17320"/>
            <a:ext cx="3657600" cy="30175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417320"/>
            <a:ext cx="109728" cy="301752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527048"/>
            <a:ext cx="32918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0F766E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764792"/>
            <a:ext cx="3246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Form publik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130552"/>
            <a:ext cx="3246120" cy="2194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Peserta buka Beranda atau /daftar. Tanpa akun. Dapat kode REG-…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417320"/>
            <a:ext cx="3657600" cy="30175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97680" y="1417320"/>
            <a:ext cx="109728" cy="301752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3712" y="1527048"/>
            <a:ext cx="32918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0F766E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1764792"/>
            <a:ext cx="3246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Import Excel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2130552"/>
            <a:ext cx="3246120" cy="2194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Panitia &amp; Super Admin. Pendaftaran → Import Excel. Unduh template, isi PESERTA, unggah. NOMOR LOMBA hanya rujukan terkunci.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417320"/>
            <a:ext cx="3657600" cy="30175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38160" y="1417320"/>
            <a:ext cx="109728" cy="301752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94192" y="1527048"/>
            <a:ext cx="32918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0F766E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1764792"/>
            <a:ext cx="3246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Input manual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2130552"/>
            <a:ext cx="3246120" cy="2194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Pendaftaran → Tambah manual. Untuk koreksi kecil, bukan daftar klub utuh.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663440"/>
            <a:ext cx="11247120" cy="1554480"/>
          </a:xfrm>
          <a:prstGeom prst="round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800600"/>
            <a:ext cx="107899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92400E"/>
                </a:solidFill>
                <a:latin typeface="Calibri"/>
              </a:rPr>
              <a:t>Penting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120640"/>
            <a:ext cx="1078992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92400E"/>
                </a:solidFill>
                <a:latin typeface="Calibri"/>
              </a:rPr>
              <a:t>Ketiga jalur menghasilkan entri berstatus menunggu verifikasi. Yang belum disetujui tidak masuk pembagian seri. Import hanya bisa selama status masih Pendaftaran terbuka.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3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6601968"/>
            <a:ext cx="8229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SeaRIA  ·  Panduan pemakaian sistem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601968"/>
            <a:ext cx="210312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0515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CCFBF1"/>
                </a:solidFill>
                <a:latin typeface="Calibri"/>
              </a:rPr>
              <a:t>PANITIA &amp; SUPER ADMIN · PENDAFTARAN → IMPORT EXCEL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Cara unggah daftar klub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258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•  Hanya panitia dan Super Admin yang mengunggah. Peserta memakai form publik.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•  Unduh template. Isi lembar PESERTA. Lembar NOMOR LOMBA terkunci (kode, nama, gender, grup).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•  Salin KODE ACARA dari NOMOR LOMBA. Jangan ubah GRUP YANG BOLEH IKUT di Excel.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•  Satu baris = satu atlet pada satu nomor. Ikut tiga nomor = tiga baris. Catatan waktu boleh kosong (NT).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•  Unggah .xlsx atau .csv (maks. 5 MB, 2.000 baris). Cek pratinjau, perbaiki baris bermasalah.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•  Tekan Import … baris valid. Lalu tetap verifikasi sebelum pembagian seri.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3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01968"/>
            <a:ext cx="8229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SeaRIA  ·  Panduan pemakaian sistem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0312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0515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CCFBF1"/>
                </a:solidFill>
                <a:latin typeface="Calibri"/>
              </a:rPr>
              <a:t>PANITIA · PENDAFTARAN → ANTREAN VERIFIKASI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Setujui atau tolak entri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577840" cy="31089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109728" cy="310896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481328"/>
            <a:ext cx="5212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0F766E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719072"/>
            <a:ext cx="51663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Setujui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084832"/>
            <a:ext cx="5166360" cy="2286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Status menjadi terverifikasi. Hanya entri ini yang masuk pembagian seri. Ada penyetujuan massal. Bisa saring per klub, nomor, atau kelompok umur.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5486400" cy="31089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371600"/>
            <a:ext cx="109728" cy="310896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1481328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0F766E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1719072"/>
            <a:ext cx="5074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Tolak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2084832"/>
            <a:ext cx="5074920" cy="2286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Wajib isi alasan. Pendaftar tidak mengedit sendiri. Panitia yang memperbaiki, atau minta data ulang lewat WhatsApp dengan kode REG-…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709160"/>
            <a:ext cx="11247120" cy="1508760"/>
          </a:xfrm>
          <a:prstGeom prst="round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892040"/>
            <a:ext cx="10789920" cy="1143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>
                <a:solidFill>
                  <a:srgbClr val="134E4A"/>
                </a:solidFill>
                <a:latin typeface="Calibri"/>
              </a:rPr>
              <a:t>Jika semua data sudah rapi: buka Ringkasan acara, lanjutkan status ke Pendaftaran ditutup. Form publik dan import Excel berhenti.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3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601968"/>
            <a:ext cx="8229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SeaRIA  ·  Panduan pemakaian sistem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601968"/>
            <a:ext cx="210312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0515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CCFBF1"/>
                </a:solidFill>
                <a:latin typeface="Calibri"/>
              </a:rPr>
              <a:t>PANITIA · PEMBAGIAN SERI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Apa itu seeding?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0">
                <a:solidFill>
                  <a:srgbClr val="0F172A"/>
                </a:solidFill>
                <a:latin typeface="Calibri"/>
              </a:rPr>
              <a:t>Seeding = menyusun siapa berenang di seri berapa dan lintasan berapa, dari catatan waktu saat daftar — bukan hasil lomba.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286000"/>
            <a:ext cx="5577840" cy="17373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2286000"/>
            <a:ext cx="109728" cy="173736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450592"/>
            <a:ext cx="51663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Seri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816352"/>
            <a:ext cx="516636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Kolam hanya 6 atau 8 lintasan. Jika peserta lebih banyak, mereka dibagi ke beberapa gelombang (seri).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286000"/>
            <a:ext cx="5577840" cy="17373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63640" y="2286000"/>
            <a:ext cx="109728" cy="173736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9672" y="2450592"/>
            <a:ext cx="51663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Lintasan tengah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2816352"/>
            <a:ext cx="516636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Biasanya untuk yang lebih cepat dalam seri itu. Seri terakhir biasanya berisi perenang tercepat.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160519"/>
            <a:ext cx="5577840" cy="17373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" y="4160519"/>
            <a:ext cx="109728" cy="173736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4325111"/>
            <a:ext cx="51663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4690871"/>
            <a:ext cx="516636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Tidak ada catatan waktu. Diletakkan di seri belakang.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4160519"/>
            <a:ext cx="5577840" cy="17373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63640" y="4160519"/>
            <a:ext cx="109728" cy="173736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9672" y="4325111"/>
            <a:ext cx="51663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Hanya yang disetujui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9672" y="4690871"/>
            <a:ext cx="516636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Entri menunggu verifikasi tidak ikut. Pembagian dihitung per nomor lomba × kelompok umur.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3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601968"/>
            <a:ext cx="8229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SeaRIA  ·  Panduan pemakaian sistem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6601968"/>
            <a:ext cx="210312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0515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CCFBF1"/>
                </a:solidFill>
                <a:latin typeface="Calibri"/>
              </a:rPr>
              <a:t>PANITIA · PEMBAGIAN SERI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Langkah yang harus dikerjakan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80160"/>
            <a:ext cx="11247120" cy="713232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640080" cy="7132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000" b="1">
                <a:solidFill>
                  <a:srgbClr val="0F766E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280160"/>
            <a:ext cx="10058400" cy="7132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0">
                <a:solidFill>
                  <a:srgbClr val="0F172A"/>
                </a:solidFill>
                <a:latin typeface="Calibri"/>
              </a:rPr>
              <a:t>Tutup pendaftaran di Ringkasan.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84832"/>
            <a:ext cx="11247120" cy="713232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4832"/>
            <a:ext cx="640080" cy="7132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000" b="1">
                <a:solidFill>
                  <a:srgbClr val="0F766E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084832"/>
            <a:ext cx="10058400" cy="7132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0">
                <a:solidFill>
                  <a:srgbClr val="0F172A"/>
                </a:solidFill>
                <a:latin typeface="Calibri"/>
              </a:rPr>
              <a:t>Setujui semua entri di Pendaftaran.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889504"/>
            <a:ext cx="11247120" cy="713232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889504"/>
            <a:ext cx="640080" cy="7132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000" b="1">
                <a:solidFill>
                  <a:srgbClr val="0F766E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889504"/>
            <a:ext cx="10058400" cy="7132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0">
                <a:solidFill>
                  <a:srgbClr val="0F172A"/>
                </a:solidFill>
                <a:latin typeface="Calibri"/>
              </a:rPr>
              <a:t>Tekan Bagi seri seluruh kejuaraan.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694176"/>
            <a:ext cx="11247120" cy="713232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694176"/>
            <a:ext cx="640080" cy="7132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000" b="1">
                <a:solidFill>
                  <a:srgbClr val="0F766E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694176"/>
            <a:ext cx="10058400" cy="7132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0">
                <a:solidFill>
                  <a:srgbClr val="0F172A"/>
                </a:solidFill>
                <a:latin typeface="Calibri"/>
              </a:rPr>
              <a:t>Buka Lihat susunan per nomor × kelompok umur. Tukar lintasan atau keluarkan peserta jika perlu.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98848"/>
            <a:ext cx="11247120" cy="713232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498848"/>
            <a:ext cx="640080" cy="7132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000" b="1">
                <a:solidFill>
                  <a:srgbClr val="0F766E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498848"/>
            <a:ext cx="10058400" cy="7132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0">
                <a:solidFill>
                  <a:srgbClr val="0F172A"/>
                </a:solidFill>
                <a:latin typeface="Calibri"/>
              </a:rPr>
              <a:t>Kunci jika susunan sudah final.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303520"/>
            <a:ext cx="11247120" cy="713232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303520"/>
            <a:ext cx="640080" cy="7132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000" b="1">
                <a:solidFill>
                  <a:srgbClr val="0F766E"/>
                </a:solidFill>
                <a:latin typeface="Calibri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5303520"/>
            <a:ext cx="10058400" cy="7132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0">
                <a:solidFill>
                  <a:srgbClr val="0F172A"/>
                </a:solidFill>
                <a:latin typeface="Calibri"/>
              </a:rPr>
              <a:t>Di Ringkasan, lanjutkan status ke Sudah diseeding. Baru buku acara bisa dicetak dan dilihat publik.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3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6601968"/>
            <a:ext cx="8229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SeaRIA  ·  Panduan pemakaian sistem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601968"/>
            <a:ext cx="210312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0515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CCFBF1"/>
                </a:solidFill>
                <a:latin typeface="Calibri"/>
              </a:rPr>
              <a:t>PANITIA · SETELAH SERI DIBAGI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Buku acara dan penugasan juri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577840" cy="44805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109728" cy="448056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481328"/>
            <a:ext cx="5212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0F766E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719072"/>
            <a:ext cx="51663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Buku acara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084832"/>
            <a:ext cx="516636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Menu Buku acara.
• Lihat start list di layar
• Unduh PDF buku acara
• Unduh lembar hasil kosong untuk dicatat di pinggir kolam
Publik juga bisa melihat start list setelah status Sudah diseeding.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5486400" cy="44805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371600"/>
            <a:ext cx="109728" cy="448056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1481328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0F766E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1719072"/>
            <a:ext cx="5074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Penugasan juri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2084832"/>
            <a:ext cx="507492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Ringkasan → Pengaturan acara → Penugasan juri.
Tentukan juri mana mengisi nomor/seri mana.
Tanpa ini, juri tidak melihat tugas. Bisa juga diatur dari halaman Hasil.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3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601968"/>
            <a:ext cx="8229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SeaRIA  ·  Panduan pemakaian sistem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601968"/>
            <a:ext cx="210312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0515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CCFBF1"/>
                </a:solidFill>
                <a:latin typeface="Calibri"/>
              </a:rPr>
              <a:t>PANITIA · HARI LOMBA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Hasil diisi, lalu dicek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11155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0F172A"/>
                </a:solidFill>
                <a:latin typeface="Calibri"/>
              </a:rPr>
              <a:t>•  Di Ringkasan, lanjutkan status ke Hari lomba.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0F172A"/>
                </a:solidFill>
                <a:latin typeface="Calibri"/>
              </a:rPr>
              <a:t>•  Juri masuk → Tugas juri → pilih seri → isi waktu per lintasan.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0F172A"/>
                </a:solidFill>
                <a:latin typeface="Calibri"/>
              </a:rPr>
              <a:t>•  Ketikan cepat: 3470 menjadi 00:34.70. Status khusus: DNS, DNF, DSQ.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0F172A"/>
                </a:solidFill>
                <a:latin typeface="Calibri"/>
              </a:rPr>
              <a:t>•  Setelah seri lengkap, juri kunci seri.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0F172A"/>
                </a:solidFill>
                <a:latin typeface="Calibri"/>
              </a:rPr>
              <a:t>•  Panitia boleh mengisi atau mengkoreksi di menu Hasil tanpa menunggu juri. Koreksi setelah kunci tercatat di Audit.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0F172A"/>
                </a:solidFill>
                <a:latin typeface="Calibri"/>
              </a:rPr>
              <a:t>•  Tab Verifikasi: tandai hasil per seri atau per nomor sudah dicek.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0F172A"/>
                </a:solidFill>
                <a:latin typeface="Calibri"/>
              </a:rPr>
              <a:t>•  Jika seluruh hasil selesai, lanjutkan status ke Selesai, lalu Dipublikasikan.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3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01968"/>
            <a:ext cx="8229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SeaRIA  ·  Panduan pemakaian sistem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0312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0515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CCFBF1"/>
                </a:solidFill>
                <a:latin typeface="Calibri"/>
              </a:rPr>
              <a:t>PANITIA · PUBLIKASI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Setelah status Dipublikasikan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71600"/>
            <a:ext cx="3657600" cy="214884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11480" y="1371600"/>
            <a:ext cx="109728" cy="214884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536192"/>
            <a:ext cx="3246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Hasil resmi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901952"/>
            <a:ext cx="3246120" cy="1508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Publik lihat dan unduh PDF hasil di halaman kejuaraan.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371600"/>
            <a:ext cx="3657600" cy="214884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51960" y="1371600"/>
            <a:ext cx="109728" cy="214884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1536192"/>
            <a:ext cx="3246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Peringkat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1901952"/>
            <a:ext cx="3246120" cy="1508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Per nomor lomba × kelompok umur.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371600"/>
            <a:ext cx="3657600" cy="214884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92440" y="1371600"/>
            <a:ext cx="109728" cy="214884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48472" y="1536192"/>
            <a:ext cx="3246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Medali / klasemen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48472" y="1901952"/>
            <a:ext cx="3246120" cy="1508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Jika diaktifkan di halaman hasil.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703320"/>
            <a:ext cx="3657600" cy="214884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11480" y="3703320"/>
            <a:ext cx="109728" cy="214884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" y="3867912"/>
            <a:ext cx="3246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Cari atlet &amp; arsip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4233672"/>
            <a:ext cx="3246120" cy="1508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Menu Cari atlet dan Arsip di situs publik.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1960" y="3703320"/>
            <a:ext cx="3657600" cy="214884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251960" y="3703320"/>
            <a:ext cx="109728" cy="214884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07992" y="3867912"/>
            <a:ext cx="3246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Export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07992" y="4233672"/>
            <a:ext cx="3246120" cy="1508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Unduh Excel peserta, start list, hasil, medali.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92440" y="3703320"/>
            <a:ext cx="3657600" cy="214884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092440" y="3703320"/>
            <a:ext cx="109728" cy="214884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48472" y="3867912"/>
            <a:ext cx="3246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Ingat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48472" y="4233672"/>
            <a:ext cx="3246120" cy="1508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Catatan waktu daftar bukan hasil. Hasil hanya dari hari lomba.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3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6601968"/>
            <a:ext cx="8229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SeaRIA  ·  Panduan pemakaian sistem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6601968"/>
            <a:ext cx="210312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CCFBF1"/>
                </a:solidFill>
                <a:latin typeface="Calibri"/>
              </a:rPr>
              <a:t>BAGIAN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1051560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Panduan peserta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05840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0">
                <a:solidFill>
                  <a:srgbClr val="CCFBF1"/>
                </a:solidFill>
                <a:latin typeface="Calibri"/>
              </a:rPr>
              <a:t>Tidak perlu membuat akun. Isi data, pilih nomor, simpan kode pendaftaran.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0515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CCFBF1"/>
                </a:solidFill>
                <a:latin typeface="Calibri"/>
              </a:rPr>
              <a:t>PESERTA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Daftar dalam 3 langkah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71600"/>
            <a:ext cx="3657600" cy="44805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11480" y="1371600"/>
            <a:ext cx="109728" cy="448056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481328"/>
            <a:ext cx="32918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0F766E"/>
                </a:solidFill>
                <a:latin typeface="Calibri"/>
              </a:rPr>
              <a:t>Langkah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719072"/>
            <a:ext cx="3246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1. Data diri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084832"/>
            <a:ext cx="324612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Kontak pendaftar (nama + WhatsApp). Nama atlet, L/P, tahun lahir, klub, kota.
Tahun lahir menentukan kelompok umur — bukan umur di hari lomba.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371600"/>
            <a:ext cx="3657600" cy="44805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51960" y="1371600"/>
            <a:ext cx="109728" cy="448056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1481328"/>
            <a:ext cx="32918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0F766E"/>
                </a:solidFill>
                <a:latin typeface="Calibri"/>
              </a:rPr>
              <a:t>Langkah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7992" y="1719072"/>
            <a:ext cx="3246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2. Pilih nomor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084832"/>
            <a:ext cx="324612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Hanya nomor yang cocok dengan jenis kelamin dan kelompok umur yang tampil.
Centang nomor, isi catatan waktu jika ada. Kosong = 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371600"/>
            <a:ext cx="3657600" cy="44805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92440" y="1371600"/>
            <a:ext cx="109728" cy="448056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8472" y="1481328"/>
            <a:ext cx="32918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0F766E"/>
                </a:solidFill>
                <a:latin typeface="Calibri"/>
              </a:rPr>
              <a:t>Langkah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8472" y="1719072"/>
            <a:ext cx="3246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3. Cek &amp; kirim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8472" y="2084832"/>
            <a:ext cx="324612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Periksa data. Setelah dikirim tidak bisa diubah sendiri.
Simpan atau potret kode REG-…. Itu rujukan saat menghubungi panitia.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3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601968"/>
            <a:ext cx="8229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SeaRIA  ·  Panduan pemakaian sistem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601968"/>
            <a:ext cx="210312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0515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CCFBF1"/>
                </a:solidFill>
                <a:latin typeface="Calibri"/>
              </a:rPr>
              <a:t>PESERTA · CATATAN WAKTU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Ketik 6 angka, dari kiri ke kanan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>
                <a:solidFill>
                  <a:srgbClr val="0F172A"/>
                </a:solidFill>
                <a:latin typeface="Calibri"/>
              </a:rPr>
              <a:t>Catatan waktu (seed) = waktu terbaik atlet. Dipakai panitia untuk membagi seri dan lintasan. Bukan hasil lomba nanti.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20240" y="2240280"/>
            <a:ext cx="1051560" cy="1234440"/>
          </a:xfrm>
          <a:prstGeom prst="round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108960" y="2240280"/>
            <a:ext cx="1051560" cy="1234440"/>
          </a:xfrm>
          <a:prstGeom prst="round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20240" y="2331720"/>
            <a:ext cx="1051560" cy="10515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>
                <a:solidFill>
                  <a:srgbClr val="134E4A"/>
                </a:solidFill>
                <a:latin typeface="Calibri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331720"/>
            <a:ext cx="1051560" cy="10515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>
                <a:solidFill>
                  <a:srgbClr val="134E4A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3566160"/>
            <a:ext cx="22402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>
                <a:solidFill>
                  <a:srgbClr val="0F766E"/>
                </a:solidFill>
                <a:latin typeface="Calibri"/>
              </a:rPr>
              <a:t>Menit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3886200"/>
            <a:ext cx="22402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paling kiri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0520" y="2468880"/>
            <a:ext cx="5029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200" b="1">
                <a:solidFill>
                  <a:srgbClr val="475569"/>
                </a:solidFill>
                <a:latin typeface="Calibri"/>
              </a:rPr>
              <a:t>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0" y="2240280"/>
            <a:ext cx="1051560" cy="1234440"/>
          </a:xfrm>
          <a:prstGeom prst="round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0" y="2240280"/>
            <a:ext cx="1051560" cy="1234440"/>
          </a:xfrm>
          <a:prstGeom prst="round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2331720"/>
            <a:ext cx="1051560" cy="10515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>
                <a:solidFill>
                  <a:srgbClr val="134E4A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2331720"/>
            <a:ext cx="1051560" cy="10515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>
                <a:solidFill>
                  <a:srgbClr val="134E4A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3566160"/>
            <a:ext cx="22402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>
                <a:solidFill>
                  <a:srgbClr val="0F766E"/>
                </a:solidFill>
                <a:latin typeface="Calibri"/>
              </a:rPr>
              <a:t>Detik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3886200"/>
            <a:ext cx="22402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tengah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5160" y="2468880"/>
            <a:ext cx="5029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200" b="1">
                <a:solidFill>
                  <a:srgbClr val="475569"/>
                </a:solidFill>
                <a:latin typeface="Calibri"/>
              </a:rPr>
              <a:t>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0" y="2240280"/>
            <a:ext cx="1051560" cy="1234440"/>
          </a:xfrm>
          <a:prstGeom prst="round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78240" y="2240280"/>
            <a:ext cx="1051560" cy="1234440"/>
          </a:xfrm>
          <a:prstGeom prst="round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0" y="2331720"/>
            <a:ext cx="1051560" cy="10515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>
                <a:solidFill>
                  <a:srgbClr val="134E4A"/>
                </a:solidFill>
                <a:latin typeface="Calibri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2331720"/>
            <a:ext cx="1051560" cy="10515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>
                <a:solidFill>
                  <a:srgbClr val="134E4A"/>
                </a:solidFill>
                <a:latin typeface="Calibri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3566160"/>
            <a:ext cx="22402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>
                <a:solidFill>
                  <a:srgbClr val="0F766E"/>
                </a:solidFill>
                <a:latin typeface="Calibri"/>
              </a:rPr>
              <a:t>1/100 dtk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3886200"/>
            <a:ext cx="22402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paling kanan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297680"/>
            <a:ext cx="11247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000" b="1">
                <a:solidFill>
                  <a:srgbClr val="134E4A"/>
                </a:solidFill>
                <a:latin typeface="Calibri"/>
              </a:rPr>
              <a:t>013470  →  01:34.70   (1 menit 34,70 detik)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475488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  <a:latin typeface="Calibri"/>
              </a:rPr>
              <a:t>•  Contoh 52,20 detik: ketik 005220 atau 5220.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  <a:latin typeface="Calibri"/>
              </a:rPr>
              <a:t>•  Boleh juga 52.20 atau 1:34.70. Kosong atau NT = belum punya catatan waktu.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3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6601968"/>
            <a:ext cx="8229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SeaRIA  ·  Panduan pemakaian sistem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0" y="6601968"/>
            <a:ext cx="210312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0515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CCFBF1"/>
                </a:solidFill>
                <a:latin typeface="Calibri"/>
              </a:rPr>
              <a:t>PESERTA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Setelah pendaftaran terkirim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577840" cy="214884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109728" cy="214884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536192"/>
            <a:ext cx="51663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Simpan kode REG-…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901952"/>
            <a:ext cx="5166360" cy="1508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Potret halaman. Kode itu satu-satunya rujukan saat menghubungi panitia. Halaman tidak bisa dibuka lagi setelah peramban ditutup.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71600"/>
            <a:ext cx="5577840" cy="214884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1371600"/>
            <a:ext cx="109728" cy="214884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1536192"/>
            <a:ext cx="51663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Panitia memeriksa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1901952"/>
            <a:ext cx="5166360" cy="1508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Jika ada yang perlu diperbaiki, panitia menghubungi WhatsApp Anda.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703320"/>
            <a:ext cx="5577840" cy="214884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" y="3703320"/>
            <a:ext cx="109728" cy="214884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3867912"/>
            <a:ext cx="51663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Tidak bisa edit sendiri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4233672"/>
            <a:ext cx="5166360" cy="1508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Perubahan atau pembatalan hanya lewat panitia, dengan menyebutkan kode.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703320"/>
            <a:ext cx="5577840" cy="214884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63640" y="3703320"/>
            <a:ext cx="109728" cy="214884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9672" y="3867912"/>
            <a:ext cx="51663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Lihat jadwal &amp; hasil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9672" y="4233672"/>
            <a:ext cx="5166360" cy="1508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Jadwal di halaman kejuaraan. Buku acara setelah diseeding. Hasil setelah dipublikasikan. Cari atlet di menu publik.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3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601968"/>
            <a:ext cx="8229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SeaRIA  ·  Panduan pemakaian sistem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601968"/>
            <a:ext cx="210312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CCFBF1"/>
                </a:solidFill>
                <a:latin typeface="Calibri"/>
              </a:rPr>
              <a:t>BAGIAN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1051560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Hari lomba — juri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05840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0">
                <a:solidFill>
                  <a:srgbClr val="CCFBF1"/>
                </a:solidFill>
                <a:latin typeface="Calibri"/>
              </a:rPr>
              <a:t>Juri mengisi waktu. Panitia boleh membantu atau mengoreksi.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0515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CCFBF1"/>
                </a:solidFill>
                <a:latin typeface="Calibri"/>
              </a:rPr>
              <a:t>JURI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Tugas di hari lomba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2588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•  Masuk lewat /login. Langsung ke Tugas juri — hanya seri yang ditugaskan panitia yang tampil.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•  Pilih seri, isi waktu per lintasan. Ketikan cepat 4–6 angka: 3470 → 00:34.70.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•  Jika tidak start / tidak finish / didiskualifikasi: pilih DNS, DNF, atau DSQ — jangan isi waktu.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•  Setelah semua lintasan terisi, kunci seri.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•  Jika tidak ada tugas: minta panitia mengisi Penugasan juri di pengaturan acara.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•  Panitia bisa mengisi hasil yang sama dari menu Hasil, termasuk koreksi setelah kunci (tercatat di Audit).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3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01968"/>
            <a:ext cx="8229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SeaRIA  ·  Panduan pemakaian sistem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0312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0515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CCFBF1"/>
                </a:solidFill>
                <a:latin typeface="Calibri"/>
              </a:rPr>
              <a:t>RINGKASAN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Siapa mengerjakan apa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80160"/>
            <a:ext cx="11247120" cy="45720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7498079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Langkah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280160"/>
            <a:ext cx="32004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Siapa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783080"/>
            <a:ext cx="11247120" cy="530352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783080"/>
            <a:ext cx="7498079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>Siapkan kejuaraan, grup, nomor, matriks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1783080"/>
            <a:ext cx="320040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>
                <a:solidFill>
                  <a:srgbClr val="0F766E"/>
                </a:solidFill>
                <a:latin typeface="Calibri"/>
              </a:rPr>
              <a:t>Panitia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77440"/>
            <a:ext cx="11247120" cy="5303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377440"/>
            <a:ext cx="7498079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>Buka / tutup pendaftaran, bagi seri, publikasi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377440"/>
            <a:ext cx="320040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>
                <a:solidFill>
                  <a:srgbClr val="0F766E"/>
                </a:solidFill>
                <a:latin typeface="Calibri"/>
              </a:rPr>
              <a:t>Panitia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971800"/>
            <a:ext cx="11247120" cy="530352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971800"/>
            <a:ext cx="7498079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>Isi form /daftar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971800"/>
            <a:ext cx="320040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>
                <a:solidFill>
                  <a:srgbClr val="0F766E"/>
                </a:solidFill>
                <a:latin typeface="Calibri"/>
              </a:rPr>
              <a:t>Peserta (tanpa akun)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66160"/>
            <a:ext cx="11247120" cy="5303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566160"/>
            <a:ext cx="7498079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>Import Excel / input manual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3566160"/>
            <a:ext cx="320040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>
                <a:solidFill>
                  <a:srgbClr val="0F766E"/>
                </a:solidFill>
                <a:latin typeface="Calibri"/>
              </a:rPr>
              <a:t>Panitia &amp; Super Admin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160520"/>
            <a:ext cx="11247120" cy="530352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160520"/>
            <a:ext cx="7498079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>Setujui atau tolak entri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4160520"/>
            <a:ext cx="320040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>
                <a:solidFill>
                  <a:srgbClr val="0F766E"/>
                </a:solidFill>
                <a:latin typeface="Calibri"/>
              </a:rPr>
              <a:t>Panitia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754880"/>
            <a:ext cx="11247120" cy="5303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754880"/>
            <a:ext cx="7498079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>Isi waktu di hari lomba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4754880"/>
            <a:ext cx="320040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>
                <a:solidFill>
                  <a:srgbClr val="0F766E"/>
                </a:solidFill>
                <a:latin typeface="Calibri"/>
              </a:rPr>
              <a:t>Juri, atau panitia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349240"/>
            <a:ext cx="11247120" cy="530352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349240"/>
            <a:ext cx="7498079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>Mundurkan status kejuaraan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5349240"/>
            <a:ext cx="320040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>
                <a:solidFill>
                  <a:srgbClr val="0F766E"/>
                </a:solidFill>
                <a:latin typeface="Calibri"/>
              </a:rPr>
              <a:t>Super Admin saja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3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6601968"/>
            <a:ext cx="8229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SeaRIA  ·  Panduan pemakaian sistem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6601968"/>
            <a:ext cx="210312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0515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CCFBF1"/>
                </a:solidFill>
                <a:latin typeface="Calibri"/>
              </a:rPr>
              <a:t>PENGINGAT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Yang sering terlewat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0F172A"/>
                </a:solidFill>
                <a:latin typeface="Calibri"/>
              </a:rPr>
              <a:t>•  Form publik tidak muncul selama kejuaraan masih Draf. Buka status Pendaftaran terbuka dulu.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0F172A"/>
                </a:solidFill>
                <a:latin typeface="Calibri"/>
              </a:rPr>
              <a:t>•  Peserta yang belum disetujui tidak masuk pembagian seri.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0F172A"/>
                </a:solidFill>
                <a:latin typeface="Calibri"/>
              </a:rPr>
              <a:t>•  Pembagian seri dihitung per nomor lomba × kelompok umur, bukan per nomor saja.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0F172A"/>
                </a:solidFill>
                <a:latin typeface="Calibri"/>
              </a:rPr>
              <a:t>•  Catatan waktu daftar bukan hasil lomba. Hasil diisi juri (atau panitia) di hari lomba.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0F172A"/>
                </a:solidFill>
                <a:latin typeface="Calibri"/>
              </a:rPr>
              <a:t>•  Satu atlet satu kali per nomor. Ikut tiga nomor = tiga baris (form, Excel, maupun manual).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0F172A"/>
                </a:solidFill>
                <a:latin typeface="Calibri"/>
              </a:rPr>
              <a:t>•  Setelah dikirim, pendaftar tidak mengedit lagi. Koreksi di sisi panitia.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0F172A"/>
                </a:solidFill>
                <a:latin typeface="Calibri"/>
              </a:rPr>
              <a:t>•  Import Excel hanya selama Pendaftaran terbuka. Setelah ditutup, import berhenti.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0F172A"/>
                </a:solidFill>
                <a:latin typeface="Calibri"/>
              </a:rPr>
              <a:t>•  Tanpa penugasan juri, juri tidak melihat seri yang harus diisi.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3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01968"/>
            <a:ext cx="8229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SeaRIA  ·  Panduan pemakaian sistem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0312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Siap menjalankan kejuaraan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91840"/>
            <a:ext cx="102412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0">
                <a:solidFill>
                  <a:srgbClr val="CCFBF1"/>
                </a:solidFill>
                <a:latin typeface="Calibri"/>
              </a:rPr>
              <a:t>Panitia menyiapkan dan mengendalikan alur.
Peserta daftar tanpa akun, lalu simpan kode REG-…
Juri mengisi waktu di seri yang ditugaskan.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029200"/>
            <a:ext cx="10058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Masuk panitia / juri: /login     ·     Daftar peserta: /daftar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